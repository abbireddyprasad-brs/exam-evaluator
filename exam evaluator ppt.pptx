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jp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405" y="621131"/>
            <a:ext cx="7492492" cy="9541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14" y="83566"/>
            <a:ext cx="1532509" cy="168529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39" y="65151"/>
            <a:ext cx="1524252" cy="173977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72" y="65278"/>
            <a:ext cx="1491361" cy="176923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962" y="65278"/>
            <a:ext cx="1458339" cy="180390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262" y="65278"/>
            <a:ext cx="1425448" cy="183426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861" y="65151"/>
            <a:ext cx="1392426" cy="186601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878" y="65278"/>
            <a:ext cx="1359535" cy="189306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327" y="65151"/>
            <a:ext cx="1325624" cy="192303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094" y="65278"/>
            <a:ext cx="1285365" cy="19522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630" y="65278"/>
            <a:ext cx="1252397" cy="198361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350" y="65151"/>
            <a:ext cx="1211199" cy="2012441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8242" y="65151"/>
            <a:ext cx="1178242" cy="2041525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3704" y="65151"/>
            <a:ext cx="1326515" cy="188175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3686" y="65151"/>
            <a:ext cx="1474849" cy="172466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049" y="65151"/>
            <a:ext cx="1639697" cy="157911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2387" y="65278"/>
            <a:ext cx="1796161" cy="1425321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2980" y="65278"/>
            <a:ext cx="1961007" cy="127622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2858" y="65265"/>
            <a:ext cx="2133979" cy="1130058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8850" y="65176"/>
            <a:ext cx="2307082" cy="98270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2068" y="65151"/>
            <a:ext cx="2480056" cy="836422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096" y="65151"/>
            <a:ext cx="2661412" cy="6907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8773" y="65163"/>
            <a:ext cx="2842641" cy="574154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7327" y="65176"/>
            <a:ext cx="3023995" cy="5158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6425" y="318833"/>
            <a:ext cx="2026666" cy="73691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590" y="1128521"/>
            <a:ext cx="10770819" cy="5603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9864" y="1587866"/>
            <a:ext cx="10812271" cy="3366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98160" y="6376212"/>
            <a:ext cx="184848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673" y="1989581"/>
            <a:ext cx="7536180" cy="1637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4737100" algn="l"/>
              </a:tabLst>
            </a:pPr>
            <a:r>
              <a:rPr lang="en-US" sz="4000" b="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Summer</a:t>
            </a:r>
            <a:r>
              <a:rPr sz="4000" b="0" spc="-229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4000" b="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Internship</a:t>
            </a:r>
            <a:r>
              <a:rPr sz="4000" b="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4000" b="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–</a:t>
            </a:r>
            <a:r>
              <a:rPr lang="en-US" sz="4000" b="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4000" b="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Review</a:t>
            </a:r>
            <a:endParaRPr sz="4000" dirty="0">
              <a:latin typeface="Microsoft Sans Serif"/>
              <a:cs typeface="Microsoft Sans Serif"/>
            </a:endParaRPr>
          </a:p>
          <a:p>
            <a:pPr marR="10160" algn="ctr">
              <a:lnSpc>
                <a:spcPct val="100000"/>
              </a:lnSpc>
              <a:spcBef>
                <a:spcPts val="3095"/>
              </a:spcBef>
            </a:pPr>
            <a:r>
              <a:rPr sz="4000" b="0" dirty="0">
                <a:solidFill>
                  <a:srgbClr val="FF0000"/>
                </a:solidFill>
                <a:latin typeface="Microsoft Sans Serif"/>
                <a:cs typeface="Microsoft Sans Serif"/>
              </a:rPr>
              <a:t>AI</a:t>
            </a:r>
            <a:r>
              <a:rPr sz="4000" b="0" spc="-1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4000" b="0" spc="-295" dirty="0">
                <a:solidFill>
                  <a:srgbClr val="FF0000"/>
                </a:solidFill>
                <a:latin typeface="Microsoft Sans Serif"/>
                <a:cs typeface="Microsoft Sans Serif"/>
              </a:rPr>
              <a:t>BASED</a:t>
            </a:r>
            <a:r>
              <a:rPr sz="4000" b="0" spc="-25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4000" b="0" spc="-360" dirty="0">
                <a:solidFill>
                  <a:srgbClr val="FF0000"/>
                </a:solidFill>
                <a:latin typeface="Microsoft Sans Serif"/>
                <a:cs typeface="Microsoft Sans Serif"/>
              </a:rPr>
              <a:t>PAPER</a:t>
            </a:r>
            <a:r>
              <a:rPr sz="4000" b="0" spc="-29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4000" b="0" spc="-305" dirty="0">
                <a:solidFill>
                  <a:srgbClr val="FF0000"/>
                </a:solidFill>
                <a:latin typeface="Microsoft Sans Serif"/>
                <a:cs typeface="Microsoft Sans Serif"/>
              </a:rPr>
              <a:t>EVALUATION</a:t>
            </a:r>
            <a:endParaRPr sz="40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320" y="4117975"/>
            <a:ext cx="4387215" cy="84895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b="1" spc="-10" dirty="0">
                <a:latin typeface="Times New Roman"/>
                <a:cs typeface="Times New Roman"/>
              </a:rPr>
              <a:t>Presented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9085" algn="l"/>
                <a:tab pos="3623310" algn="l"/>
              </a:tabLst>
            </a:pPr>
            <a:r>
              <a:rPr sz="1800" dirty="0">
                <a:latin typeface="Times New Roman"/>
                <a:cs typeface="Times New Roman"/>
              </a:rPr>
              <a:t>22A91A6167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Prasad</a:t>
            </a:r>
            <a:r>
              <a:rPr sz="1800" dirty="0">
                <a:latin typeface="Times New Roman"/>
                <a:cs typeface="Times New Roman"/>
              </a:rPr>
              <a:t>	-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AIML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8108" y="4206621"/>
            <a:ext cx="3061335" cy="84895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b="1" dirty="0">
                <a:latin typeface="Times New Roman"/>
                <a:cs typeface="Times New Roman"/>
              </a:rPr>
              <a:t>Faculty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Mentors: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222222"/>
                </a:solidFill>
                <a:latin typeface="Times New Roman"/>
                <a:cs typeface="Times New Roman"/>
              </a:rPr>
              <a:t>G</a:t>
            </a:r>
            <a:r>
              <a:rPr sz="1800" spc="-7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22222"/>
                </a:solidFill>
                <a:latin typeface="Times New Roman"/>
                <a:cs typeface="Times New Roman"/>
              </a:rPr>
              <a:t>Siva</a:t>
            </a:r>
            <a:r>
              <a:rPr sz="1800" spc="-3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22222"/>
                </a:solidFill>
                <a:latin typeface="Times New Roman"/>
                <a:cs typeface="Times New Roman"/>
              </a:rPr>
              <a:t>Shankar</a:t>
            </a:r>
            <a:r>
              <a:rPr sz="1800" spc="-4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AIM</a:t>
            </a:r>
            <a:r>
              <a:rPr lang="en-US" sz="1800" spc="-20" dirty="0">
                <a:latin typeface="Times New Roman"/>
                <a:cs typeface="Times New Roman"/>
              </a:rPr>
              <a:t>L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75751" y="4160013"/>
            <a:ext cx="3516249" cy="2704083"/>
            <a:chOff x="8675751" y="4160013"/>
            <a:chExt cx="3516249" cy="2704083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5751" y="4393438"/>
              <a:ext cx="3516249" cy="24706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4237" y="4344031"/>
              <a:ext cx="1892173" cy="25139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2945" y="4251829"/>
              <a:ext cx="1552702" cy="260616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39400" y="4160013"/>
              <a:ext cx="1461007" cy="269798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2763" y="1128521"/>
            <a:ext cx="3509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20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52729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52729" algn="l"/>
              </a:tabLst>
            </a:pPr>
            <a:r>
              <a:rPr dirty="0"/>
              <a:t>The</a:t>
            </a:r>
            <a:r>
              <a:rPr spc="10" dirty="0"/>
              <a:t> </a:t>
            </a:r>
            <a:r>
              <a:rPr dirty="0"/>
              <a:t>traditional</a:t>
            </a:r>
            <a:r>
              <a:rPr spc="35" dirty="0"/>
              <a:t> </a:t>
            </a:r>
            <a:r>
              <a:rPr dirty="0"/>
              <a:t>manual</a:t>
            </a:r>
            <a:r>
              <a:rPr spc="5" dirty="0"/>
              <a:t> </a:t>
            </a:r>
            <a:r>
              <a:rPr dirty="0"/>
              <a:t>grading</a:t>
            </a:r>
            <a:r>
              <a:rPr spc="35" dirty="0"/>
              <a:t> </a:t>
            </a:r>
            <a:r>
              <a:rPr dirty="0"/>
              <a:t>system</a:t>
            </a:r>
            <a:r>
              <a:rPr spc="10" dirty="0"/>
              <a:t> </a:t>
            </a:r>
            <a:r>
              <a:rPr dirty="0"/>
              <a:t>for</a:t>
            </a:r>
            <a:r>
              <a:rPr spc="20" dirty="0"/>
              <a:t> </a:t>
            </a:r>
            <a:r>
              <a:rPr dirty="0"/>
              <a:t>descriptive</a:t>
            </a:r>
            <a:r>
              <a:rPr spc="20" dirty="0"/>
              <a:t> </a:t>
            </a:r>
            <a:r>
              <a:rPr dirty="0"/>
              <a:t>exam papers</a:t>
            </a:r>
            <a:r>
              <a:rPr spc="20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increasingly</a:t>
            </a:r>
            <a:r>
              <a:rPr spc="40" dirty="0"/>
              <a:t> </a:t>
            </a:r>
            <a:r>
              <a:rPr spc="-10" dirty="0"/>
              <a:t>inadequate</a:t>
            </a:r>
          </a:p>
          <a:p>
            <a:pPr marL="253365">
              <a:lnSpc>
                <a:spcPct val="100000"/>
              </a:lnSpc>
              <a:spcBef>
                <a:spcPts val="265"/>
              </a:spcBef>
            </a:pPr>
            <a:r>
              <a:rPr dirty="0"/>
              <a:t>in</a:t>
            </a:r>
            <a:r>
              <a:rPr spc="-85" dirty="0"/>
              <a:t> </a:t>
            </a:r>
            <a:r>
              <a:rPr dirty="0"/>
              <a:t>addressing</a:t>
            </a:r>
            <a:r>
              <a:rPr spc="-9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demands</a:t>
            </a:r>
            <a:r>
              <a:rPr spc="-7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modern</a:t>
            </a:r>
            <a:r>
              <a:rPr spc="-35" dirty="0"/>
              <a:t> </a:t>
            </a:r>
            <a:r>
              <a:rPr spc="-10" dirty="0"/>
              <a:t>education.</a:t>
            </a:r>
          </a:p>
          <a:p>
            <a:pPr marL="253365" marR="88900" indent="-228600">
              <a:lnSpc>
                <a:spcPct val="111400"/>
              </a:lnSpc>
              <a:spcBef>
                <a:spcPts val="1200"/>
              </a:spcBef>
              <a:buChar char="•"/>
              <a:tabLst>
                <a:tab pos="253365" algn="l"/>
                <a:tab pos="318770" algn="l"/>
              </a:tabLst>
            </a:pPr>
            <a:r>
              <a:rPr dirty="0">
                <a:latin typeface="Arial MT"/>
                <a:cs typeface="Arial MT"/>
              </a:rPr>
              <a:t>	</a:t>
            </a:r>
            <a:r>
              <a:rPr dirty="0"/>
              <a:t>This</a:t>
            </a:r>
            <a:r>
              <a:rPr spc="15" dirty="0"/>
              <a:t> </a:t>
            </a:r>
            <a:r>
              <a:rPr dirty="0"/>
              <a:t>conventional</a:t>
            </a:r>
            <a:r>
              <a:rPr spc="25" dirty="0"/>
              <a:t> </a:t>
            </a:r>
            <a:r>
              <a:rPr dirty="0"/>
              <a:t>approach</a:t>
            </a:r>
            <a:r>
              <a:rPr spc="30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45" dirty="0"/>
              <a:t>time-</a:t>
            </a:r>
            <a:r>
              <a:rPr dirty="0"/>
              <a:t>consuming,</a:t>
            </a:r>
            <a:r>
              <a:rPr spc="65" dirty="0"/>
              <a:t> </a:t>
            </a:r>
            <a:r>
              <a:rPr dirty="0"/>
              <a:t>prone</a:t>
            </a:r>
            <a:r>
              <a:rPr spc="1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human</a:t>
            </a:r>
            <a:r>
              <a:rPr spc="20" dirty="0"/>
              <a:t> </a:t>
            </a:r>
            <a:r>
              <a:rPr dirty="0"/>
              <a:t>errors,</a:t>
            </a:r>
            <a:r>
              <a:rPr spc="4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lacks</a:t>
            </a:r>
            <a:r>
              <a:rPr spc="25" dirty="0"/>
              <a:t> </a:t>
            </a:r>
            <a:r>
              <a:rPr spc="-10" dirty="0"/>
              <a:t>scalability, </a:t>
            </a:r>
            <a:r>
              <a:rPr dirty="0"/>
              <a:t>making</a:t>
            </a:r>
            <a:r>
              <a:rPr spc="-70" dirty="0"/>
              <a:t> </a:t>
            </a:r>
            <a:r>
              <a:rPr dirty="0"/>
              <a:t>it</a:t>
            </a:r>
            <a:r>
              <a:rPr spc="-80" dirty="0"/>
              <a:t> </a:t>
            </a:r>
            <a:r>
              <a:rPr spc="-10" dirty="0"/>
              <a:t>challenging</a:t>
            </a:r>
            <a:r>
              <a:rPr spc="-95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dirty="0"/>
              <a:t>manage</a:t>
            </a:r>
            <a:r>
              <a:rPr spc="-50" dirty="0"/>
              <a:t> </a:t>
            </a:r>
            <a:r>
              <a:rPr dirty="0"/>
              <a:t>large</a:t>
            </a:r>
            <a:r>
              <a:rPr spc="-85" dirty="0"/>
              <a:t> </a:t>
            </a:r>
            <a:r>
              <a:rPr dirty="0"/>
              <a:t>volumes</a:t>
            </a:r>
            <a:r>
              <a:rPr spc="-7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student</a:t>
            </a:r>
            <a:r>
              <a:rPr spc="-100" dirty="0"/>
              <a:t> </a:t>
            </a:r>
            <a:r>
              <a:rPr spc="-10" dirty="0"/>
              <a:t>assessments</a:t>
            </a:r>
            <a:r>
              <a:rPr spc="-105" dirty="0"/>
              <a:t> </a:t>
            </a:r>
            <a:r>
              <a:rPr spc="-10" dirty="0"/>
              <a:t>efficiently.</a:t>
            </a:r>
          </a:p>
          <a:p>
            <a:pPr marL="253365" marR="10795" indent="-228600">
              <a:lnSpc>
                <a:spcPct val="110100"/>
              </a:lnSpc>
              <a:spcBef>
                <a:spcPts val="790"/>
              </a:spcBef>
              <a:buFont typeface="Arial MT"/>
              <a:buChar char="•"/>
              <a:tabLst>
                <a:tab pos="253365" algn="l"/>
                <a:tab pos="1875789" algn="l"/>
                <a:tab pos="2834640" algn="l"/>
                <a:tab pos="3831590" algn="l"/>
                <a:tab pos="4358640" algn="l"/>
                <a:tab pos="5552440" algn="l"/>
                <a:tab pos="7381875" algn="l"/>
                <a:tab pos="7922895" algn="l"/>
                <a:tab pos="8812530" algn="l"/>
                <a:tab pos="9777730" algn="l"/>
                <a:tab pos="10132695" algn="l"/>
              </a:tabLst>
            </a:pPr>
            <a:r>
              <a:rPr spc="-10" dirty="0"/>
              <a:t>Additionally,</a:t>
            </a:r>
            <a:r>
              <a:rPr dirty="0"/>
              <a:t>	</a:t>
            </a:r>
            <a:r>
              <a:rPr spc="-10" dirty="0"/>
              <a:t>manual</a:t>
            </a:r>
            <a:r>
              <a:rPr dirty="0"/>
              <a:t>	</a:t>
            </a:r>
            <a:r>
              <a:rPr spc="-10" dirty="0"/>
              <a:t>grading</a:t>
            </a:r>
            <a:r>
              <a:rPr dirty="0"/>
              <a:t>	</a:t>
            </a:r>
            <a:r>
              <a:rPr spc="-25" dirty="0"/>
              <a:t>can</a:t>
            </a:r>
            <a:r>
              <a:rPr dirty="0"/>
              <a:t>	</a:t>
            </a:r>
            <a:r>
              <a:rPr spc="-10" dirty="0"/>
              <a:t>introduce</a:t>
            </a:r>
            <a:r>
              <a:rPr dirty="0"/>
              <a:t>	</a:t>
            </a:r>
            <a:r>
              <a:rPr spc="-10" dirty="0"/>
              <a:t>inconsistencies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biases,</a:t>
            </a:r>
            <a:r>
              <a:rPr dirty="0"/>
              <a:t>	</a:t>
            </a:r>
            <a:r>
              <a:rPr spc="-10" dirty="0"/>
              <a:t>leading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25" dirty="0"/>
              <a:t>unfair </a:t>
            </a:r>
            <a:r>
              <a:rPr spc="-10" dirty="0"/>
              <a:t>evaluations</a:t>
            </a:r>
            <a:r>
              <a:rPr spc="-8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delayed</a:t>
            </a:r>
            <a:r>
              <a:rPr spc="-110" dirty="0"/>
              <a:t> </a:t>
            </a:r>
            <a:r>
              <a:rPr dirty="0"/>
              <a:t>feedback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spc="-10" dirty="0"/>
              <a:t>students.</a:t>
            </a:r>
          </a:p>
          <a:p>
            <a:pPr marL="253365" marR="5080" indent="-228600">
              <a:lnSpc>
                <a:spcPct val="110000"/>
              </a:lnSpc>
              <a:spcBef>
                <a:spcPts val="1010"/>
              </a:spcBef>
              <a:buChar char="•"/>
              <a:tabLst>
                <a:tab pos="253365" algn="l"/>
                <a:tab pos="307975" algn="l"/>
              </a:tabLst>
            </a:pPr>
            <a:r>
              <a:rPr dirty="0">
                <a:latin typeface="Arial MT"/>
                <a:cs typeface="Arial MT"/>
              </a:rPr>
              <a:t>	</a:t>
            </a:r>
            <a:r>
              <a:rPr dirty="0"/>
              <a:t>As</a:t>
            </a:r>
            <a:r>
              <a:rPr spc="65" dirty="0"/>
              <a:t> </a:t>
            </a:r>
            <a:r>
              <a:rPr dirty="0"/>
              <a:t>educational</a:t>
            </a:r>
            <a:r>
              <a:rPr spc="90" dirty="0"/>
              <a:t> </a:t>
            </a:r>
            <a:r>
              <a:rPr dirty="0"/>
              <a:t>institutions</a:t>
            </a:r>
            <a:r>
              <a:rPr spc="80" dirty="0"/>
              <a:t> </a:t>
            </a:r>
            <a:r>
              <a:rPr dirty="0"/>
              <a:t>expand</a:t>
            </a:r>
            <a:r>
              <a:rPr spc="95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the</a:t>
            </a:r>
            <a:r>
              <a:rPr spc="90" dirty="0"/>
              <a:t> </a:t>
            </a:r>
            <a:r>
              <a:rPr dirty="0"/>
              <a:t>number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assessments</a:t>
            </a:r>
            <a:r>
              <a:rPr spc="90" dirty="0"/>
              <a:t> </a:t>
            </a:r>
            <a:r>
              <a:rPr dirty="0"/>
              <a:t>grows,</a:t>
            </a:r>
            <a:r>
              <a:rPr spc="80" dirty="0"/>
              <a:t> </a:t>
            </a:r>
            <a:r>
              <a:rPr dirty="0"/>
              <a:t>there</a:t>
            </a:r>
            <a:r>
              <a:rPr spc="85" dirty="0"/>
              <a:t> </a:t>
            </a:r>
            <a:r>
              <a:rPr dirty="0"/>
              <a:t>is</a:t>
            </a:r>
            <a:r>
              <a:rPr spc="80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spc="-10" dirty="0"/>
              <a:t>pressing </a:t>
            </a:r>
            <a:r>
              <a:rPr dirty="0"/>
              <a:t>need</a:t>
            </a:r>
            <a:r>
              <a:rPr spc="-10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an</a:t>
            </a:r>
            <a:r>
              <a:rPr spc="-85" dirty="0"/>
              <a:t> </a:t>
            </a:r>
            <a:r>
              <a:rPr dirty="0"/>
              <a:t>automated</a:t>
            </a:r>
            <a:r>
              <a:rPr spc="-65" dirty="0"/>
              <a:t> </a:t>
            </a:r>
            <a:r>
              <a:rPr dirty="0"/>
              <a:t>solution</a:t>
            </a:r>
            <a:r>
              <a:rPr spc="-120" dirty="0"/>
              <a:t> </a:t>
            </a:r>
            <a:r>
              <a:rPr dirty="0"/>
              <a:t>that</a:t>
            </a:r>
            <a:r>
              <a:rPr spc="-105" dirty="0"/>
              <a:t> </a:t>
            </a:r>
            <a:r>
              <a:rPr dirty="0"/>
              <a:t>ensures</a:t>
            </a:r>
            <a:r>
              <a:rPr spc="-125" dirty="0"/>
              <a:t> </a:t>
            </a:r>
            <a:r>
              <a:rPr spc="-10" dirty="0"/>
              <a:t>timely,</a:t>
            </a:r>
            <a:r>
              <a:rPr spc="-75" dirty="0"/>
              <a:t> </a:t>
            </a:r>
            <a:r>
              <a:rPr spc="-10" dirty="0"/>
              <a:t>consistent,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dirty="0"/>
              <a:t>objective</a:t>
            </a:r>
            <a:r>
              <a:rPr spc="-100" dirty="0"/>
              <a:t> </a:t>
            </a:r>
            <a:r>
              <a:rPr spc="-10" dirty="0"/>
              <a:t>grading.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2055" y="5089093"/>
            <a:ext cx="1231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0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3057" y="5054724"/>
            <a:ext cx="5935345" cy="7639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70"/>
              </a:spcBef>
            </a:pPr>
            <a:r>
              <a:rPr sz="2200" dirty="0">
                <a:latin typeface="Times New Roman"/>
                <a:cs typeface="Times New Roman"/>
              </a:rPr>
              <a:t>evaluation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aims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challenges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546735" algn="l"/>
                <a:tab pos="1822450" algn="l"/>
                <a:tab pos="3137535" algn="l"/>
                <a:tab pos="4204970" algn="l"/>
                <a:tab pos="4735195" algn="l"/>
              </a:tabLst>
            </a:pPr>
            <a:r>
              <a:rPr sz="2200" spc="-25" dirty="0">
                <a:latin typeface="Times New Roman"/>
                <a:cs typeface="Times New Roman"/>
              </a:rPr>
              <a:t>eby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enhancing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efficiency,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fairness,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scalability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66121" y="5132194"/>
            <a:ext cx="1620520" cy="6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2400"/>
              </a:lnSpc>
            </a:pP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automating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tabLst>
                <a:tab pos="347345" algn="l"/>
              </a:tabLst>
            </a:pP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educational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3355" y="5132194"/>
            <a:ext cx="2921635" cy="1047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2400"/>
              </a:lnSpc>
            </a:pP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AI-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paper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  <a:tabLst>
                <a:tab pos="469265" algn="l"/>
                <a:tab pos="1452245" algn="l"/>
                <a:tab pos="2487295" algn="l"/>
              </a:tabLst>
            </a:pP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grading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process,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ther </a:t>
            </a:r>
            <a:r>
              <a:rPr sz="2200" spc="-10" dirty="0">
                <a:latin typeface="Times New Roman"/>
                <a:cs typeface="Times New Roman"/>
              </a:rPr>
              <a:t>assessments.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261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2847" y="1733550"/>
            <a:ext cx="10466070" cy="27622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Times New Roman"/>
                <a:cs typeface="Times New Roman"/>
              </a:rPr>
              <a:t>Automate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paper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evaluation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enhance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efficiency,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consistency,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fairness.</a:t>
            </a:r>
            <a:endParaRPr sz="2200" dirty="0">
              <a:latin typeface="Times New Roman"/>
              <a:cs typeface="Times New Roman"/>
            </a:endParaRPr>
          </a:p>
          <a:p>
            <a:pPr marL="355600" marR="219075" indent="-342900">
              <a:lnSpc>
                <a:spcPts val="2400"/>
              </a:lnSpc>
              <a:spcBef>
                <a:spcPts val="54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aims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reduce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grading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burden,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timely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feedback,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scale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assessments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populations,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freeing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educators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focused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teaching.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400"/>
              </a:lnSpc>
              <a:spcBef>
                <a:spcPts val="49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Times New Roman"/>
                <a:cs typeface="Times New Roman"/>
              </a:rPr>
              <a:t>Covers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grading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semi-</a:t>
            </a:r>
            <a:r>
              <a:rPr sz="2200" dirty="0">
                <a:latin typeface="Times New Roman"/>
                <a:cs typeface="Times New Roman"/>
              </a:rPr>
              <a:t>automated </a:t>
            </a:r>
            <a:r>
              <a:rPr sz="2200" spc="-10" dirty="0">
                <a:latin typeface="Times New Roman"/>
                <a:cs typeface="Times New Roman"/>
              </a:rPr>
              <a:t>evaluation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subjective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ones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(short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answers, </a:t>
            </a:r>
            <a:r>
              <a:rPr sz="2200" dirty="0">
                <a:latin typeface="Times New Roman"/>
                <a:cs typeface="Times New Roman"/>
              </a:rPr>
              <a:t>essays)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assessing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content,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coherence,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grammar.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includes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Text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recognition,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plagiarism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detection,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performance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analytics.</a:t>
            </a:r>
            <a:endParaRPr sz="2200" dirty="0">
              <a:latin typeface="Times New Roman"/>
              <a:cs typeface="Times New Roman"/>
            </a:endParaRPr>
          </a:p>
          <a:p>
            <a:pPr marL="355600" marR="791845" indent="-342900">
              <a:lnSpc>
                <a:spcPts val="2500"/>
              </a:lnSpc>
              <a:spcBef>
                <a:spcPts val="259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strong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content,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limitations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assessing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deep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creativity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highly </a:t>
            </a:r>
            <a:r>
              <a:rPr sz="2200" dirty="0">
                <a:latin typeface="Times New Roman"/>
                <a:cs typeface="Times New Roman"/>
              </a:rPr>
              <a:t>nuanced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interpretations.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erris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275" y="3694471"/>
            <a:ext cx="3106420" cy="2188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20" dirty="0">
                <a:latin typeface="Times New Roman"/>
                <a:cs typeface="Times New Roman"/>
              </a:rPr>
              <a:t>Technologies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Used</a:t>
            </a:r>
            <a:endParaRPr sz="24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170"/>
              </a:spcBef>
              <a:tabLst>
                <a:tab pos="344170" algn="l"/>
              </a:tabLst>
            </a:pPr>
            <a:r>
              <a:rPr sz="2000" spc="-50" dirty="0">
                <a:latin typeface="Arial MT"/>
                <a:cs typeface="Arial MT"/>
              </a:rPr>
              <a:t>•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Optical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Recogni</a:t>
            </a:r>
            <a:endParaRPr sz="20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tabLst>
                <a:tab pos="344170" algn="l"/>
              </a:tabLst>
            </a:pPr>
            <a:r>
              <a:rPr sz="2000" spc="-50" dirty="0">
                <a:latin typeface="Arial MT"/>
                <a:cs typeface="Arial MT"/>
              </a:rPr>
              <a:t>•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Natural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Processi</a:t>
            </a:r>
            <a:endParaRPr sz="20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tabLst>
                <a:tab pos="344170" algn="l"/>
              </a:tabLst>
            </a:pPr>
            <a:r>
              <a:rPr sz="2000" spc="-50" dirty="0">
                <a:latin typeface="Arial MT"/>
                <a:cs typeface="Arial MT"/>
              </a:rPr>
              <a:t>•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LLAMA3</a:t>
            </a:r>
            <a:endParaRPr sz="20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5"/>
              </a:spcBef>
              <a:tabLst>
                <a:tab pos="344170" algn="l"/>
              </a:tabLst>
            </a:pPr>
            <a:r>
              <a:rPr sz="2000" spc="-50" dirty="0">
                <a:latin typeface="Arial MT"/>
                <a:cs typeface="Arial MT"/>
              </a:rPr>
              <a:t>•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MERN</a:t>
            </a:r>
            <a:endParaRPr sz="20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tabLst>
                <a:tab pos="344170" algn="l"/>
              </a:tabLst>
            </a:pPr>
            <a:r>
              <a:rPr sz="2000" spc="-50" dirty="0">
                <a:latin typeface="Arial MT"/>
                <a:cs typeface="Arial MT"/>
              </a:rPr>
              <a:t>•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HTML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,JavaScript(F</a:t>
            </a:r>
            <a:endParaRPr sz="20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tabLst>
                <a:tab pos="344170" algn="l"/>
              </a:tabLst>
            </a:pPr>
            <a:r>
              <a:rPr sz="2000" spc="-50" dirty="0">
                <a:latin typeface="Arial MT"/>
                <a:cs typeface="Arial MT"/>
              </a:rPr>
              <a:t>•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MongoDB(For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Base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287" y="1748739"/>
            <a:ext cx="11043285" cy="41940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31165" algn="l"/>
              </a:tabLst>
            </a:pPr>
            <a:r>
              <a:rPr sz="2000" dirty="0">
                <a:latin typeface="Times New Roman"/>
                <a:cs typeface="Times New Roman"/>
              </a:rPr>
              <a:t>Students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PDF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answer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scripts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application.</a:t>
            </a:r>
            <a:endParaRPr sz="2000" dirty="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buFont typeface="Arial MT"/>
              <a:buChar char="•"/>
              <a:tabLst>
                <a:tab pos="431165" algn="l"/>
              </a:tabLst>
            </a:pPr>
            <a:r>
              <a:rPr sz="2000" dirty="0">
                <a:latin typeface="Times New Roman"/>
                <a:cs typeface="Times New Roman"/>
              </a:rPr>
              <a:t>OCR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text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PDFs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further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processing.</a:t>
            </a:r>
            <a:endParaRPr sz="2000" dirty="0">
              <a:latin typeface="Times New Roman"/>
              <a:cs typeface="Times New Roman"/>
            </a:endParaRPr>
          </a:p>
          <a:p>
            <a:pPr marL="426720" indent="-414020">
              <a:lnSpc>
                <a:spcPct val="100000"/>
              </a:lnSpc>
              <a:buFont typeface="Arial MT"/>
              <a:buChar char="•"/>
              <a:tabLst>
                <a:tab pos="4267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text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cleaned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question-</a:t>
            </a:r>
            <a:r>
              <a:rPr sz="2000" dirty="0">
                <a:latin typeface="Times New Roman"/>
                <a:cs typeface="Times New Roman"/>
              </a:rPr>
              <a:t>wise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responses.</a:t>
            </a:r>
            <a:endParaRPr sz="2000" dirty="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buFont typeface="Arial MT"/>
              <a:buChar char="•"/>
              <a:tabLst>
                <a:tab pos="431165" algn="l"/>
              </a:tabLst>
            </a:pPr>
            <a:r>
              <a:rPr sz="2000" spc="-20" dirty="0">
                <a:latin typeface="Times New Roman"/>
                <a:cs typeface="Times New Roman"/>
              </a:rPr>
              <a:t>Faculty-</a:t>
            </a:r>
            <a:r>
              <a:rPr sz="2000" dirty="0">
                <a:latin typeface="Times New Roman"/>
                <a:cs typeface="Times New Roman"/>
              </a:rPr>
              <a:t>provided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answers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LLaMA3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model.</a:t>
            </a:r>
            <a:endParaRPr sz="2000" dirty="0">
              <a:latin typeface="Times New Roman"/>
              <a:cs typeface="Times New Roman"/>
            </a:endParaRPr>
          </a:p>
          <a:p>
            <a:pPr marL="426720" indent="-414020">
              <a:lnSpc>
                <a:spcPct val="100000"/>
              </a:lnSpc>
              <a:buFont typeface="Arial MT"/>
              <a:buChar char="•"/>
              <a:tabLst>
                <a:tab pos="4267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scores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MongoDB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displayed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frontend.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485515" marR="6443980" indent="-3111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tion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(OCR) </a:t>
            </a:r>
            <a:r>
              <a:rPr sz="2000" dirty="0">
                <a:latin typeface="Times New Roman"/>
                <a:cs typeface="Times New Roman"/>
              </a:rPr>
              <a:t>ng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(NLP)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3437254" marR="6605905" indent="80645">
              <a:lnSpc>
                <a:spcPct val="100000"/>
              </a:lnSpc>
              <a:spcBef>
                <a:spcPts val="5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37254" marR="6605905" indent="80645">
              <a:lnSpc>
                <a:spcPct val="100000"/>
              </a:lnSpc>
              <a:spcBef>
                <a:spcPts val="5"/>
              </a:spcBef>
            </a:pPr>
            <a:r>
              <a:rPr sz="2000" dirty="0" err="1">
                <a:latin typeface="Times New Roman"/>
                <a:cs typeface="Times New Roman"/>
              </a:rPr>
              <a:t>rontend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) </a:t>
            </a:r>
            <a:r>
              <a:rPr sz="2000" spc="-10" dirty="0">
                <a:latin typeface="Times New Roman"/>
                <a:cs typeface="Times New Roman"/>
              </a:rPr>
              <a:t>Storage)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8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Current</a:t>
            </a:r>
            <a:r>
              <a:rPr spc="-120" dirty="0"/>
              <a:t> </a:t>
            </a:r>
            <a:r>
              <a:rPr spc="-10" dirty="0"/>
              <a:t>System</a:t>
            </a:r>
            <a:r>
              <a:rPr spc="-114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1994" y="3783691"/>
            <a:ext cx="3784600" cy="198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180">
              <a:lnSpc>
                <a:spcPts val="2430"/>
              </a:lnSpc>
              <a:tabLst>
                <a:tab pos="987425" algn="l"/>
                <a:tab pos="2425065" algn="l"/>
                <a:tab pos="3240405" algn="l"/>
              </a:tabLst>
            </a:pPr>
            <a:r>
              <a:rPr sz="2200" spc="-20" dirty="0">
                <a:latin typeface="Arial MT"/>
                <a:cs typeface="Arial MT"/>
              </a:rPr>
              <a:t>then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processed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using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NLP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2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tabLst>
                <a:tab pos="371475" algn="l"/>
                <a:tab pos="1720214" algn="l"/>
                <a:tab pos="2430780" algn="l"/>
                <a:tab pos="3083560" algn="l"/>
              </a:tabLst>
            </a:pPr>
            <a:r>
              <a:rPr sz="2200" spc="-50" dirty="0">
                <a:latin typeface="Times New Roman"/>
                <a:cs typeface="Times New Roman"/>
              </a:rPr>
              <a:t>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comparing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them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model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1450975" algn="l"/>
              </a:tabLst>
            </a:pPr>
            <a:r>
              <a:rPr sz="2200" dirty="0">
                <a:latin typeface="Times New Roman"/>
                <a:cs typeface="Times New Roman"/>
              </a:rPr>
              <a:t>eedback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	student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answer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securely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MongoDB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581" y="2122805"/>
            <a:ext cx="10770819" cy="4049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Existing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signup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page.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Successful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registration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redirects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login,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Setup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Page.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Setup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Page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details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proceeding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Upload </a:t>
            </a:r>
            <a:r>
              <a:rPr sz="2200" dirty="0">
                <a:latin typeface="Times New Roman"/>
                <a:cs typeface="Times New Roman"/>
              </a:rPr>
              <a:t>Script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page.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Upload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Script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page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PDF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script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uploads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via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selection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drag-and-</a:t>
            </a:r>
            <a:r>
              <a:rPr sz="2200" spc="-10" dirty="0">
                <a:latin typeface="Times New Roman"/>
                <a:cs typeface="Times New Roman"/>
              </a:rPr>
              <a:t>drop.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635"/>
              </a:lnSpc>
              <a:spcBef>
                <a:spcPts val="10"/>
              </a:spcBef>
              <a:buChar char="•"/>
              <a:tabLst>
                <a:tab pos="354965" algn="l"/>
                <a:tab pos="1122045" algn="l"/>
                <a:tab pos="2251710" algn="l"/>
                <a:tab pos="2848610" algn="l"/>
                <a:tab pos="3556000" algn="l"/>
                <a:tab pos="4853305" algn="l"/>
                <a:tab pos="5776595" algn="l"/>
                <a:tab pos="6639559" algn="l"/>
              </a:tabLst>
            </a:pPr>
            <a:r>
              <a:rPr sz="2200" spc="-25" dirty="0">
                <a:latin typeface="Arial MT"/>
                <a:cs typeface="Arial MT"/>
              </a:rPr>
              <a:t>OCR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extracts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text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from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uploaded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PDFs,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which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is</a:t>
            </a:r>
            <a:endParaRPr sz="2200" dirty="0">
              <a:latin typeface="Arial MT"/>
              <a:cs typeface="Arial MT"/>
            </a:endParaRPr>
          </a:p>
          <a:p>
            <a:pPr marL="355600">
              <a:lnSpc>
                <a:spcPts val="2635"/>
              </a:lnSpc>
            </a:pPr>
            <a:r>
              <a:rPr sz="2200" spc="-10" dirty="0">
                <a:latin typeface="Arial MT"/>
                <a:cs typeface="Arial MT"/>
              </a:rPr>
              <a:t>techniques.</a:t>
            </a:r>
            <a:endParaRPr sz="2200" dirty="0">
              <a:latin typeface="Arial MT"/>
              <a:cs typeface="Arial MT"/>
            </a:endParaRPr>
          </a:p>
          <a:p>
            <a:pPr marL="355600" marR="370776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  <a:tab pos="943610" algn="l"/>
                <a:tab pos="2153920" algn="l"/>
                <a:tab pos="3004185" algn="l"/>
                <a:tab pos="4197350" algn="l"/>
                <a:tab pos="5578475" algn="l"/>
                <a:tab pos="6630034" algn="l"/>
              </a:tabLst>
            </a:pP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LLaMA3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model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evaluates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descriptive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answers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b </a:t>
            </a:r>
            <a:r>
              <a:rPr sz="2200" spc="-10" dirty="0">
                <a:latin typeface="Times New Roman"/>
                <a:cs typeface="Times New Roman"/>
              </a:rPr>
              <a:t>answers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automatically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generates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marks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detailed</a:t>
            </a:r>
            <a:r>
              <a:rPr sz="2200" spc="-50" dirty="0">
                <a:latin typeface="Times New Roman"/>
                <a:cs typeface="Times New Roman"/>
              </a:rPr>
              <a:t> f</a:t>
            </a:r>
            <a:endParaRPr sz="2200" dirty="0">
              <a:latin typeface="Times New Roman"/>
              <a:cs typeface="Times New Roman"/>
            </a:endParaRPr>
          </a:p>
          <a:p>
            <a:pPr marL="355600" marR="371602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answers,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results,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feedback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5" dirty="0" err="1">
                <a:latin typeface="Times New Roman"/>
                <a:cs typeface="Times New Roman"/>
              </a:rPr>
              <a:t>ar</a:t>
            </a:r>
            <a:r>
              <a:rPr lang="en-IN" sz="2200" spc="-25" dirty="0">
                <a:latin typeface="Times New Roman"/>
                <a:cs typeface="Times New Roman"/>
              </a:rPr>
              <a:t>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future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1B5AE-2F9C-0162-7A6B-091DC0AA71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4" y="1756344"/>
            <a:ext cx="5947221" cy="3345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CE4158-A95B-BDB8-AC96-C17F851400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581" y="1756344"/>
            <a:ext cx="5947219" cy="3345311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A669E886-5726-DF26-4B17-ABD392B11F1B}"/>
              </a:ext>
            </a:extLst>
          </p:cNvPr>
          <p:cNvSpPr txBox="1">
            <a:spLocks/>
          </p:cNvSpPr>
          <p:nvPr/>
        </p:nvSpPr>
        <p:spPr>
          <a:xfrm>
            <a:off x="3329697" y="838200"/>
            <a:ext cx="5385410" cy="426142"/>
          </a:xfrm>
          <a:prstGeom prst="rect">
            <a:avLst/>
          </a:prstGeom>
        </p:spPr>
        <p:txBody>
          <a:bodyPr vert="horz" wrap="square" lIns="0" tIns="5626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43840" algn="ctr">
              <a:spcBef>
                <a:spcPts val="100"/>
              </a:spcBef>
            </a:pPr>
            <a:r>
              <a:rPr lang="en-IN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 Shots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676" y="275716"/>
            <a:ext cx="2339340" cy="858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91759" y="6418579"/>
            <a:ext cx="1798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AI</a:t>
            </a:r>
            <a:r>
              <a:rPr sz="1200" spc="-3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Based</a:t>
            </a:r>
            <a:r>
              <a:rPr sz="1200" spc="-3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78787"/>
                </a:solidFill>
                <a:latin typeface="Calibri"/>
                <a:cs typeface="Calibri"/>
              </a:rPr>
              <a:t>PAPER</a:t>
            </a:r>
            <a:r>
              <a:rPr sz="1200" spc="-3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78787"/>
                </a:solidFill>
                <a:latin typeface="Calibri"/>
                <a:cs typeface="Calibri"/>
              </a:rPr>
              <a:t>EVALUATION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353DE9-9483-DEDB-7692-B09086319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50" y="1371600"/>
            <a:ext cx="2258192" cy="50207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9451F1-9339-94A4-47AB-317CF7C37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71600"/>
            <a:ext cx="2258192" cy="5056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8B255F-3CB2-B27C-A217-B449498C86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070930"/>
            <a:ext cx="6231466" cy="3505200"/>
          </a:xfrm>
          <a:prstGeom prst="rect">
            <a:avLst/>
          </a:prstGeom>
        </p:spPr>
      </p:pic>
      <p:sp>
        <p:nvSpPr>
          <p:cNvPr id="13" name="object 2">
            <a:extLst>
              <a:ext uri="{FF2B5EF4-FFF2-40B4-BE49-F238E27FC236}">
                <a16:creationId xmlns:a16="http://schemas.microsoft.com/office/drawing/2014/main" id="{5F6F3A7F-3993-3F09-59C4-F51D35E6F37D}"/>
              </a:ext>
            </a:extLst>
          </p:cNvPr>
          <p:cNvSpPr txBox="1">
            <a:spLocks/>
          </p:cNvSpPr>
          <p:nvPr/>
        </p:nvSpPr>
        <p:spPr>
          <a:xfrm>
            <a:off x="3398531" y="488258"/>
            <a:ext cx="5385410" cy="426142"/>
          </a:xfrm>
          <a:prstGeom prst="rect">
            <a:avLst/>
          </a:prstGeom>
        </p:spPr>
        <p:txBody>
          <a:bodyPr vert="horz" wrap="square" lIns="0" tIns="5626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43840" algn="ctr">
              <a:spcBef>
                <a:spcPts val="100"/>
              </a:spcBef>
            </a:pPr>
            <a:r>
              <a:rPr lang="en-IN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46884447-4274-C6F3-9D20-AADE826362E4}"/>
              </a:ext>
            </a:extLst>
          </p:cNvPr>
          <p:cNvSpPr txBox="1">
            <a:spLocks/>
          </p:cNvSpPr>
          <p:nvPr/>
        </p:nvSpPr>
        <p:spPr>
          <a:xfrm>
            <a:off x="106311" y="1060184"/>
            <a:ext cx="5385410" cy="303032"/>
          </a:xfrm>
          <a:prstGeom prst="rect">
            <a:avLst/>
          </a:prstGeom>
        </p:spPr>
        <p:txBody>
          <a:bodyPr vert="horz" wrap="square" lIns="0" tIns="5626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43840" algn="ctr">
              <a:spcBef>
                <a:spcPts val="100"/>
              </a:spcBef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View</a:t>
            </a: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FEF86F94-B436-F1B2-19D5-C2867442F37D}"/>
              </a:ext>
            </a:extLst>
          </p:cNvPr>
          <p:cNvSpPr txBox="1">
            <a:spLocks/>
          </p:cNvSpPr>
          <p:nvPr/>
        </p:nvSpPr>
        <p:spPr>
          <a:xfrm>
            <a:off x="6214228" y="1424880"/>
            <a:ext cx="5385410" cy="303032"/>
          </a:xfrm>
          <a:prstGeom prst="rect">
            <a:avLst/>
          </a:prstGeom>
        </p:spPr>
        <p:txBody>
          <a:bodyPr vert="horz" wrap="square" lIns="0" tIns="5626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43840" algn="ctr">
              <a:spcBef>
                <a:spcPts val="100"/>
              </a:spcBef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View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253490"/>
            <a:ext cx="6096000" cy="45224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3200" y="1349121"/>
            <a:ext cx="5486400" cy="44420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724" y="1537208"/>
            <a:ext cx="146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724" y="2133600"/>
            <a:ext cx="10146030" cy="2674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2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Times New Roman"/>
                <a:cs typeface="Times New Roman"/>
              </a:rPr>
              <a:t>Developed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full-</a:t>
            </a:r>
            <a:r>
              <a:rPr sz="2200" dirty="0">
                <a:latin typeface="Times New Roman"/>
                <a:cs typeface="Times New Roman"/>
              </a:rPr>
              <a:t>stack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web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digital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paper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evaluation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using</a:t>
            </a:r>
            <a:endParaRPr sz="2200" dirty="0">
              <a:latin typeface="Times New Roman"/>
              <a:cs typeface="Times New Roman"/>
            </a:endParaRPr>
          </a:p>
          <a:p>
            <a:pPr marL="241300">
              <a:lnSpc>
                <a:spcPts val="2520"/>
              </a:lnSpc>
            </a:pPr>
            <a:r>
              <a:rPr sz="2200" spc="-25" dirty="0">
                <a:latin typeface="Times New Roman"/>
                <a:cs typeface="Times New Roman"/>
              </a:rPr>
              <a:t>AI.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Times New Roman"/>
                <a:cs typeface="Times New Roman"/>
              </a:rPr>
              <a:t>Successfully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extracted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digital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text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uploaded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PDF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answer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scripts.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52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Times New Roman"/>
                <a:cs typeface="Times New Roman"/>
              </a:rPr>
              <a:t>Integrated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LLaMA3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LLM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evaluate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answers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against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AI-</a:t>
            </a:r>
            <a:r>
              <a:rPr sz="2200" dirty="0">
                <a:latin typeface="Times New Roman"/>
                <a:cs typeface="Times New Roman"/>
              </a:rPr>
              <a:t>generated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model</a:t>
            </a:r>
            <a:endParaRPr sz="2200" dirty="0">
              <a:latin typeface="Times New Roman"/>
              <a:cs typeface="Times New Roman"/>
            </a:endParaRPr>
          </a:p>
          <a:p>
            <a:pPr marL="241300">
              <a:lnSpc>
                <a:spcPts val="2520"/>
              </a:lnSpc>
            </a:pPr>
            <a:r>
              <a:rPr sz="2200" spc="-10" dirty="0">
                <a:latin typeface="Times New Roman"/>
                <a:cs typeface="Times New Roman"/>
              </a:rPr>
              <a:t>answers.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Ensured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role-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setup,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centralized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handling.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Created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clean,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user-</a:t>
            </a:r>
            <a:r>
              <a:rPr sz="2200" dirty="0">
                <a:latin typeface="Times New Roman"/>
                <a:cs typeface="Times New Roman"/>
              </a:rPr>
              <a:t>friendly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seamless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workflow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usability.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098160" y="6376212"/>
            <a:ext cx="184848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dirty="0"/>
              <a:t>AI</a:t>
            </a:r>
            <a:r>
              <a:rPr spc="-30" dirty="0"/>
              <a:t> </a:t>
            </a:r>
            <a:r>
              <a:rPr dirty="0"/>
              <a:t>Based</a:t>
            </a:r>
            <a:r>
              <a:rPr spc="-5" dirty="0"/>
              <a:t> </a:t>
            </a:r>
            <a:r>
              <a:rPr spc="-20" dirty="0"/>
              <a:t>PAPER</a:t>
            </a:r>
            <a:r>
              <a:rPr spc="-35" dirty="0"/>
              <a:t> </a:t>
            </a:r>
            <a:r>
              <a:rPr spc="-20" dirty="0"/>
              <a:t>EVALUATION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fallOve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C6983E-6775-B5EB-0E05-B64642E2268A}"/>
              </a:ext>
            </a:extLst>
          </p:cNvPr>
          <p:cNvSpPr txBox="1"/>
          <p:nvPr/>
        </p:nvSpPr>
        <p:spPr>
          <a:xfrm>
            <a:off x="4076700" y="3013501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83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646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Microsoft Sans Serif</vt:lpstr>
      <vt:lpstr>Times New Roman</vt:lpstr>
      <vt:lpstr>Office Theme</vt:lpstr>
      <vt:lpstr>Summer Internship – Review AI BASED PAPER EVALUATION</vt:lpstr>
      <vt:lpstr>PROBLEM STATEMENT</vt:lpstr>
      <vt:lpstr>Objective</vt:lpstr>
      <vt:lpstr>Methodology</vt:lpstr>
      <vt:lpstr>Current System Features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AlwaysCherry</dc:creator>
  <cp:lastModifiedBy>22A91A6167</cp:lastModifiedBy>
  <cp:revision>6</cp:revision>
  <dcterms:created xsi:type="dcterms:W3CDTF">2025-09-18T06:48:28Z</dcterms:created>
  <dcterms:modified xsi:type="dcterms:W3CDTF">2025-09-22T05:32:37Z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2025-09-18T00:00:00Z</vt:filetime>
  </property>
  <property fmtid="{D5CDD505-2E9C-101B-9397-08002B2CF9AE}" pid="5" name="Producer">
    <vt:lpwstr>Microsoft® PowerPoint® 2021</vt:lpwstr>
  </property>
</Properties>
</file>